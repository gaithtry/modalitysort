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3" r:id="rId4"/>
    <p:sldId id="284" r:id="rId5"/>
    <p:sldId id="280" r:id="rId6"/>
    <p:sldId id="264" r:id="rId7"/>
    <p:sldId id="282" r:id="rId8"/>
    <p:sldId id="265" r:id="rId9"/>
    <p:sldId id="266" r:id="rId10"/>
    <p:sldId id="267" r:id="rId11"/>
    <p:sldId id="281" r:id="rId12"/>
    <p:sldId id="268" r:id="rId13"/>
    <p:sldId id="269" r:id="rId14"/>
    <p:sldId id="270" r:id="rId15"/>
    <p:sldId id="271" r:id="rId16"/>
    <p:sldId id="272" r:id="rId17"/>
    <p:sldId id="273" r:id="rId18"/>
    <p:sldId id="283" r:id="rId19"/>
    <p:sldId id="276" r:id="rId20"/>
    <p:sldId id="260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9BB28E-D54E-974C-998C-E69722CB7628}" v="69" dt="2026-04-08T22:03:08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46"/>
    <p:restoredTop sz="83642"/>
  </p:normalViewPr>
  <p:slideViewPr>
    <p:cSldViewPr snapToGrid="0">
      <p:cViewPr varScale="1">
        <p:scale>
          <a:sx n="143" d="100"/>
          <a:sy n="143" d="100"/>
        </p:scale>
        <p:origin x="2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1D14B-3BDF-1745-93F1-A16BFE8EB0CE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3816D-9687-E245-9B84-A7B48C70C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7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ncCT</a:t>
            </a:r>
            <a:r>
              <a:rPr lang="en-US" dirty="0"/>
              <a:t> – gold standard, immediately ordered quick within the hour they come in – detect injuries that need surgical attention </a:t>
            </a:r>
          </a:p>
          <a:p>
            <a:r>
              <a:rPr lang="en-US" dirty="0"/>
              <a:t>CTA – if a vascular injury is suspected, based on the symptoms the person presents </a:t>
            </a:r>
          </a:p>
          <a:p>
            <a:endParaRPr lang="en-US" dirty="0"/>
          </a:p>
          <a:p>
            <a:r>
              <a:rPr lang="en-US" dirty="0"/>
              <a:t>As follow up MRA to look at similar vascular </a:t>
            </a:r>
          </a:p>
          <a:p>
            <a:r>
              <a:rPr lang="en-US" dirty="0"/>
              <a:t>FLAIR – tell if there are areas of damage (edema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T2 – will show brainstem and grey matter injuries</a:t>
            </a:r>
          </a:p>
          <a:p>
            <a:r>
              <a:rPr lang="en-US" dirty="0"/>
              <a:t>T1 – used for general anatomy/ structural image as a basis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3816D-9687-E245-9B84-A7B48C70CB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79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loading: </a:t>
            </a:r>
            <a:r>
              <a:rPr lang="en-US" dirty="0" err="1"/>
              <a:t>NIfTI</a:t>
            </a:r>
            <a:r>
              <a:rPr lang="en-US" dirty="0"/>
              <a:t> files </a:t>
            </a:r>
            <a:r>
              <a:rPr lang="en-US" dirty="0">
                <a:sym typeface="Wingdings" pitchFamily="2" charset="2"/>
              </a:rPr>
              <a:t>+ Class labels </a:t>
            </a:r>
          </a:p>
          <a:p>
            <a:r>
              <a:rPr lang="en-US" dirty="0">
                <a:sym typeface="Wingdings" pitchFamily="2" charset="2"/>
              </a:rPr>
              <a:t>Slice extraction: </a:t>
            </a:r>
            <a:r>
              <a:rPr lang="en-US" dirty="0" err="1">
                <a:sym typeface="Wingdings" pitchFamily="2" charset="2"/>
              </a:rPr>
              <a:t>NiBabel</a:t>
            </a:r>
            <a:r>
              <a:rPr lang="en-US" dirty="0">
                <a:sym typeface="Wingdings" pitchFamily="2" charset="2"/>
              </a:rPr>
              <a:t> (keeps label from volume)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3816D-9687-E245-9B84-A7B48C70CB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41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C9AA7-B7AA-044A-C905-F20DBD75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03DC9-1A8B-E5D3-1B66-14E74FB12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5C789-4C90-1058-CC7A-634C82645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loading: </a:t>
            </a:r>
            <a:r>
              <a:rPr lang="en-US" dirty="0" err="1"/>
              <a:t>NIfTI</a:t>
            </a:r>
            <a:r>
              <a:rPr lang="en-US" dirty="0"/>
              <a:t> files </a:t>
            </a:r>
            <a:r>
              <a:rPr lang="en-US" dirty="0">
                <a:sym typeface="Wingdings" pitchFamily="2" charset="2"/>
              </a:rPr>
              <a:t>+ Class labels </a:t>
            </a:r>
          </a:p>
          <a:p>
            <a:r>
              <a:rPr lang="en-US" dirty="0">
                <a:sym typeface="Wingdings" pitchFamily="2" charset="2"/>
              </a:rPr>
              <a:t>Slice extraction: </a:t>
            </a:r>
            <a:r>
              <a:rPr lang="en-US" dirty="0" err="1">
                <a:sym typeface="Wingdings" pitchFamily="2" charset="2"/>
              </a:rPr>
              <a:t>NiBabel</a:t>
            </a:r>
            <a:r>
              <a:rPr lang="en-US" dirty="0">
                <a:sym typeface="Wingdings" pitchFamily="2" charset="2"/>
              </a:rPr>
              <a:t> (keeps label from volume)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4C206-1BA7-4C5F-3211-BE97B90A9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3816D-9687-E245-9B84-A7B48C70CB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62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3816D-9687-E245-9B84-A7B48C70CB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12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Remembers the features and allows better reuse to help it’s training</a:t>
            </a:r>
          </a:p>
          <a:p>
            <a:r>
              <a:rPr lang="en-US" dirty="0"/>
              <a:t>Less parameters, gets input from the layers beforehand to help it’s overall prediction </a:t>
            </a:r>
          </a:p>
          <a:p>
            <a:r>
              <a:rPr lang="en-US" dirty="0"/>
              <a:t>Started with randomly initialized weights to build off of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3816D-9687-E245-9B84-A7B48C70CB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87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Eg.</a:t>
            </a:r>
            <a:r>
              <a:rPr lang="en-US" dirty="0"/>
              <a:t> Phantom or non brain images or other images that made it’s way into the model </a:t>
            </a:r>
          </a:p>
          <a:p>
            <a:r>
              <a:rPr lang="en-US" dirty="0"/>
              <a:t>Images from different scanners, field strength, acquisition and patient population </a:t>
            </a:r>
          </a:p>
          <a:p>
            <a:r>
              <a:rPr lang="en-US" dirty="0"/>
              <a:t>More time to train and look at certain images over the others, hence t1,t2,flair struggles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3816D-9687-E245-9B84-A7B48C70CB7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58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6895-9369-D6F5-1539-20AF1F424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BE2502-5150-218A-19A0-F226157DA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A0A2B-3928-F009-7F8D-B05A4E3A9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C2ABC-E7CC-32EF-5269-ACEEACF43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921A5-99D5-DD1C-6AD3-3D222CF1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63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0B46-B8C7-2281-18D8-35C41824F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892D0-D4C0-0809-83C9-E9D641C29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90BBF-4EC7-DF19-3AA7-D6CE5E2D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AD96-6A2D-AE48-1309-E7B4DFF1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77B6B-CB0A-DB13-8E69-2B174D6E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0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1D7-D528-5D83-C55A-109BEC90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1FE0E-2AAF-1736-9DD6-D4D391FB0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A65E0-5232-483A-77D4-633571F2B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AF836-D30D-9CB2-2D34-449E65EA1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A06B2-1896-0B35-B51F-B7C28AB6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7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410-8554-510A-A0DB-B46B1EDFC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B4704-A5D8-4F12-ED55-999BFCBBC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D02A9-76D0-A0BF-5802-F13CAE9C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509E1-77AA-0C1B-03C0-87C5136F3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0E3ED-691C-0140-671E-CA96A273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406A5-E5AB-2D35-D72A-20C51E93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8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FB55-671E-A3E2-BEFD-9BF121944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952D3-2E54-B573-3792-3B2164BA5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B0AD3-0590-28E3-EF97-CA2566036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2280A0-9B67-5B30-65FF-F38B3FBB1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D3FA3-7EFC-DBC1-FC61-F1A0A6007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9AD6C7-517A-B670-C938-B4B19510C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FDCA5E-D36B-488E-29AB-2AB22F5F3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BEE415-F797-C5F6-2097-7E7DCC84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E6B3-5F75-867B-D0F6-FCF6AC91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6AB134-B396-08AD-4C8F-85D4C681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28585-CBF1-8332-56CF-A898A118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F56D9-A2FC-1D61-A194-A9DA9624C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80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C20BE4-9007-35BF-6E81-BEAC0E391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1BD42-C137-54A9-392F-26ABC0428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E37CF-F11E-FF18-9A21-8A40B1BE9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2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E3F8-E6DF-E928-611F-31DF5A71E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C5ECB-DB56-1301-E888-CAF44DADD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1F45-EEA3-5CD5-7B71-22EEE3176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ADFD7-F9FA-79BE-A5F2-F284F244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B92DF-C247-536A-866B-3D4654A5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F1A1B-8820-458E-E8ED-10D5CCEC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3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7656-5DC2-198A-0D0F-4985769C6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7988D-0161-00C2-B50B-AFCF34551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41D0A-26D6-8FAD-4369-BA740916D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29297-80CF-943C-E0BE-8F9DFC1B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DFFB1-D6E4-0632-B2A1-9ECCE081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07991-7EEB-5900-BBBE-94AAB1D2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5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2E69-8108-34B1-EF8D-358AE2F6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2A720-6E97-B379-2FE9-218C11395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F20F1-3CDE-6E5F-E02A-C93051E5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D0A9F-7EC2-A996-38CE-EC1F96C9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20B70-1D50-CE55-DACF-9831A5DE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7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1E2A00-39EC-CB00-DF00-EA509CF87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D5CDF-A77B-4C2A-A366-B986503AE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E4671-8249-6A74-1FA3-4DEF7B99C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3DBEA-EEF6-5513-4408-AD93AD61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C749-51B8-7BF9-23E8-1ED456BB4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5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8783E-EF6C-903E-CA86-5D436089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5DD15-1005-D694-13CA-73A67A70E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4760D-889C-283D-AE53-048F607B2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43AF3-DC03-CA4D-8F5A-EBAD2513BCBD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9C5D6-F6DC-B2C2-B33D-A6EAC8B9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51393-A7B1-3C23-620A-ABDAFA5BD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2E0BD-8983-ED40-9FF6-08BC0B84E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0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FA3DA-5C98-0DE1-F1D7-886352E2F9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ModalitySort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A698C-AE84-928F-7B4B-3F8F42D990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Gaithtry Rameswaran</a:t>
            </a:r>
          </a:p>
          <a:p>
            <a:r>
              <a:rPr lang="en-US" dirty="0"/>
              <a:t>MBP 1413H – AI Course Project</a:t>
            </a:r>
          </a:p>
        </p:txBody>
      </p:sp>
    </p:spTree>
    <p:extLst>
      <p:ext uri="{BB962C8B-B14F-4D97-AF65-F5344CB8AC3E}">
        <p14:creationId xmlns:p14="http://schemas.microsoft.com/office/powerpoint/2010/main" val="2819343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149FC-E61E-EA6D-406E-4505F75B0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Overload of imaging data in clinical/ research settings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7DB761-A1D2-130B-943B-95ACF60F798D}"/>
              </a:ext>
            </a:extLst>
          </p:cNvPr>
          <p:cNvSpPr/>
          <p:nvPr/>
        </p:nvSpPr>
        <p:spPr>
          <a:xfrm>
            <a:off x="1922559" y="2388980"/>
            <a:ext cx="1905000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Non-Contrast CT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DB4097-48B8-CA0D-0105-0187842EE552}"/>
              </a:ext>
            </a:extLst>
          </p:cNvPr>
          <p:cNvSpPr/>
          <p:nvPr/>
        </p:nvSpPr>
        <p:spPr>
          <a:xfrm>
            <a:off x="5143500" y="2388979"/>
            <a:ext cx="1905000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CT Angiography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810E14C-01B1-BE89-7B87-9340216D9D48}"/>
              </a:ext>
            </a:extLst>
          </p:cNvPr>
          <p:cNvSpPr/>
          <p:nvPr/>
        </p:nvSpPr>
        <p:spPr>
          <a:xfrm>
            <a:off x="8526219" y="2388978"/>
            <a:ext cx="1905000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MR Angiography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528F940-8D11-4A0A-9CC3-4C0CA7E81359}"/>
              </a:ext>
            </a:extLst>
          </p:cNvPr>
          <p:cNvSpPr/>
          <p:nvPr/>
        </p:nvSpPr>
        <p:spPr>
          <a:xfrm>
            <a:off x="1922559" y="4277718"/>
            <a:ext cx="1905000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T1-weighted MRI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83434E3-99B7-3F89-DCE7-F2F3AC466BD4}"/>
              </a:ext>
            </a:extLst>
          </p:cNvPr>
          <p:cNvSpPr/>
          <p:nvPr/>
        </p:nvSpPr>
        <p:spPr>
          <a:xfrm>
            <a:off x="5224389" y="4216518"/>
            <a:ext cx="1905000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T2-weighted MRI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038B69-5B7F-E8B9-2FBA-F3C4C7797662}"/>
              </a:ext>
            </a:extLst>
          </p:cNvPr>
          <p:cNvSpPr/>
          <p:nvPr/>
        </p:nvSpPr>
        <p:spPr>
          <a:xfrm>
            <a:off x="8526219" y="4238919"/>
            <a:ext cx="1905000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Fluid attenuated inversion recovery (FLAIR)</a:t>
            </a:r>
          </a:p>
        </p:txBody>
      </p:sp>
    </p:spTree>
    <p:extLst>
      <p:ext uri="{BB962C8B-B14F-4D97-AF65-F5344CB8AC3E}">
        <p14:creationId xmlns:p14="http://schemas.microsoft.com/office/powerpoint/2010/main" val="3386118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63BB1-84D0-F2C5-48C8-7E94338D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F453AD-5761-9AE9-0A9B-8C782417ED55}"/>
              </a:ext>
            </a:extLst>
          </p:cNvPr>
          <p:cNvSpPr/>
          <p:nvPr/>
        </p:nvSpPr>
        <p:spPr>
          <a:xfrm>
            <a:off x="5325558" y="1605572"/>
            <a:ext cx="1899993" cy="763421"/>
          </a:xfrm>
          <a:custGeom>
            <a:avLst/>
            <a:gdLst/>
            <a:ahLst/>
            <a:cxnLst/>
            <a:rect l="l" t="t" r="r" b="b"/>
            <a:pathLst>
              <a:path w="2392009" h="1320389">
                <a:moveTo>
                  <a:pt x="0" y="0"/>
                </a:moveTo>
                <a:lnTo>
                  <a:pt x="2392008" y="0"/>
                </a:lnTo>
                <a:lnTo>
                  <a:pt x="2392008" y="1320388"/>
                </a:lnTo>
                <a:lnTo>
                  <a:pt x="0" y="1320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38100" cap="sq">
            <a:solidFill>
              <a:srgbClr val="FF0013"/>
            </a:solidFill>
            <a:prstDash val="solid"/>
            <a:miter/>
          </a:ln>
        </p:spPr>
        <p:txBody>
          <a:bodyPr/>
          <a:lstStyle/>
          <a:p>
            <a:endParaRPr 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1C6E16E-0240-0E71-2059-B8D0BF3C9339}"/>
              </a:ext>
            </a:extLst>
          </p:cNvPr>
          <p:cNvSpPr/>
          <p:nvPr/>
        </p:nvSpPr>
        <p:spPr>
          <a:xfrm>
            <a:off x="1516745" y="3156501"/>
            <a:ext cx="4593449" cy="0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4BFE9DA-91CD-065B-9CD1-35DFAF84CB86}"/>
              </a:ext>
            </a:extLst>
          </p:cNvPr>
          <p:cNvSpPr/>
          <p:nvPr/>
        </p:nvSpPr>
        <p:spPr>
          <a:xfrm flipV="1">
            <a:off x="6110194" y="2485829"/>
            <a:ext cx="0" cy="683372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592F388-5E49-041B-0949-B50A8A9F54DC}"/>
              </a:ext>
            </a:extLst>
          </p:cNvPr>
          <p:cNvSpPr/>
          <p:nvPr/>
        </p:nvSpPr>
        <p:spPr>
          <a:xfrm flipV="1">
            <a:off x="1529445" y="3156501"/>
            <a:ext cx="0" cy="683372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82033BA-A291-8C82-72DF-693815EF0B72}"/>
              </a:ext>
            </a:extLst>
          </p:cNvPr>
          <p:cNvSpPr/>
          <p:nvPr/>
        </p:nvSpPr>
        <p:spPr>
          <a:xfrm flipV="1">
            <a:off x="4099553" y="3169201"/>
            <a:ext cx="0" cy="683372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3A3A739-816A-BC67-0856-9BD45E945D32}"/>
              </a:ext>
            </a:extLst>
          </p:cNvPr>
          <p:cNvSpPr/>
          <p:nvPr/>
        </p:nvSpPr>
        <p:spPr>
          <a:xfrm flipV="1">
            <a:off x="6932930" y="3169201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673C9A12-6D7B-F550-8A74-2D0D9B62CE26}"/>
              </a:ext>
            </a:extLst>
          </p:cNvPr>
          <p:cNvSpPr/>
          <p:nvPr/>
        </p:nvSpPr>
        <p:spPr>
          <a:xfrm flipV="1">
            <a:off x="8219701" y="3169201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9E5039F3-4EAC-289A-B31E-3B1CA3C2DEBB}"/>
              </a:ext>
            </a:extLst>
          </p:cNvPr>
          <p:cNvSpPr/>
          <p:nvPr/>
        </p:nvSpPr>
        <p:spPr>
          <a:xfrm flipV="1">
            <a:off x="9508751" y="3156501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CB25B8A5-217D-AFE7-C039-838CB84A0E9C}"/>
              </a:ext>
            </a:extLst>
          </p:cNvPr>
          <p:cNvSpPr/>
          <p:nvPr/>
        </p:nvSpPr>
        <p:spPr>
          <a:xfrm flipV="1">
            <a:off x="10716343" y="3169201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138B084A-03DE-3E67-5022-5C2B19AE1D14}"/>
              </a:ext>
            </a:extLst>
          </p:cNvPr>
          <p:cNvSpPr/>
          <p:nvPr/>
        </p:nvSpPr>
        <p:spPr>
          <a:xfrm flipV="1">
            <a:off x="6122894" y="3156501"/>
            <a:ext cx="4593449" cy="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BE0396BE-672A-FDBE-08EE-7CD9EECE3BA3}"/>
              </a:ext>
            </a:extLst>
          </p:cNvPr>
          <p:cNvSpPr/>
          <p:nvPr/>
        </p:nvSpPr>
        <p:spPr>
          <a:xfrm flipV="1">
            <a:off x="6135594" y="2485829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AC7D9A9-BC74-AB24-B61F-0890950B9A5E}"/>
              </a:ext>
            </a:extLst>
          </p:cNvPr>
          <p:cNvSpPr txBox="1"/>
          <p:nvPr/>
        </p:nvSpPr>
        <p:spPr>
          <a:xfrm>
            <a:off x="5434249" y="1766029"/>
            <a:ext cx="1682609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ModalitySort</a:t>
            </a:r>
            <a:endParaRPr lang="en-US" sz="22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166826F-D6BF-54DE-8956-EB8D681FAEFE}"/>
              </a:ext>
            </a:extLst>
          </p:cNvPr>
          <p:cNvSpPr txBox="1"/>
          <p:nvPr/>
        </p:nvSpPr>
        <p:spPr>
          <a:xfrm>
            <a:off x="3380162" y="2575734"/>
            <a:ext cx="371921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2FBBB40-CC33-413E-ACCF-D081E51DFA4B}"/>
              </a:ext>
            </a:extLst>
          </p:cNvPr>
          <p:cNvSpPr txBox="1"/>
          <p:nvPr/>
        </p:nvSpPr>
        <p:spPr>
          <a:xfrm>
            <a:off x="8381311" y="2575734"/>
            <a:ext cx="1297577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MRI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CDD29FC-B681-A0A9-EF8C-DDA71ADC18E7}"/>
              </a:ext>
            </a:extLst>
          </p:cNvPr>
          <p:cNvSpPr txBox="1"/>
          <p:nvPr/>
        </p:nvSpPr>
        <p:spPr>
          <a:xfrm>
            <a:off x="1035151" y="3829411"/>
            <a:ext cx="1037241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ncCT</a:t>
            </a:r>
            <a:endParaRPr lang="en-US" sz="22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897EB1E-5DE5-AD72-FDC6-0A660905E9B1}"/>
              </a:ext>
            </a:extLst>
          </p:cNvPr>
          <p:cNvSpPr txBox="1"/>
          <p:nvPr/>
        </p:nvSpPr>
        <p:spPr>
          <a:xfrm>
            <a:off x="3619599" y="3831380"/>
            <a:ext cx="931146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CTA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7D8ED29-494A-3DD0-81C7-983AD6A2A6A6}"/>
              </a:ext>
            </a:extLst>
          </p:cNvPr>
          <p:cNvSpPr txBox="1"/>
          <p:nvPr/>
        </p:nvSpPr>
        <p:spPr>
          <a:xfrm>
            <a:off x="6114851" y="3818865"/>
            <a:ext cx="1605788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MRA-TOF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08656D9-E669-1678-12F0-84DF2509DCFA}"/>
              </a:ext>
            </a:extLst>
          </p:cNvPr>
          <p:cNvSpPr txBox="1"/>
          <p:nvPr/>
        </p:nvSpPr>
        <p:spPr>
          <a:xfrm>
            <a:off x="7948635" y="3808124"/>
            <a:ext cx="542131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T2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AA93A3D-357A-5A3F-55E3-D98F69C1B82D}"/>
              </a:ext>
            </a:extLst>
          </p:cNvPr>
          <p:cNvSpPr txBox="1"/>
          <p:nvPr/>
        </p:nvSpPr>
        <p:spPr>
          <a:xfrm>
            <a:off x="8805275" y="3820824"/>
            <a:ext cx="1338017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FLAIR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4D46C8A2-63DE-F6FB-D3D2-C873BA043CE4}"/>
              </a:ext>
            </a:extLst>
          </p:cNvPr>
          <p:cNvSpPr txBox="1"/>
          <p:nvPr/>
        </p:nvSpPr>
        <p:spPr>
          <a:xfrm>
            <a:off x="10448939" y="3820824"/>
            <a:ext cx="570767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T1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B1BC93-1BE9-F40F-B529-B943D571886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/>
              <a:t>ModalitySort</a:t>
            </a:r>
            <a:r>
              <a:rPr lang="en-US" sz="4000" dirty="0"/>
              <a:t>: Medical Image Modality Sorter Tool</a:t>
            </a:r>
          </a:p>
        </p:txBody>
      </p:sp>
    </p:spTree>
    <p:extLst>
      <p:ext uri="{BB962C8B-B14F-4D97-AF65-F5344CB8AC3E}">
        <p14:creationId xmlns:p14="http://schemas.microsoft.com/office/powerpoint/2010/main" val="3777715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0424-F9D1-D5C5-638A-99D747CA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942DA9-45CA-34DE-57CD-2E0B8F114F11}"/>
              </a:ext>
            </a:extLst>
          </p:cNvPr>
          <p:cNvSpPr/>
          <p:nvPr/>
        </p:nvSpPr>
        <p:spPr>
          <a:xfrm>
            <a:off x="5325558" y="1605572"/>
            <a:ext cx="1899993" cy="763421"/>
          </a:xfrm>
          <a:custGeom>
            <a:avLst/>
            <a:gdLst/>
            <a:ahLst/>
            <a:cxnLst/>
            <a:rect l="l" t="t" r="r" b="b"/>
            <a:pathLst>
              <a:path w="2392009" h="1320389">
                <a:moveTo>
                  <a:pt x="0" y="0"/>
                </a:moveTo>
                <a:lnTo>
                  <a:pt x="2392008" y="0"/>
                </a:lnTo>
                <a:lnTo>
                  <a:pt x="2392008" y="1320388"/>
                </a:lnTo>
                <a:lnTo>
                  <a:pt x="0" y="1320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38100" cap="sq">
            <a:solidFill>
              <a:srgbClr val="FF0013"/>
            </a:solidFill>
            <a:prstDash val="solid"/>
            <a:miter/>
          </a:ln>
        </p:spPr>
        <p:txBody>
          <a:bodyPr/>
          <a:lstStyle/>
          <a:p>
            <a:endParaRPr 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71FA820-564C-5A81-DE6D-14C7A955DB30}"/>
              </a:ext>
            </a:extLst>
          </p:cNvPr>
          <p:cNvSpPr/>
          <p:nvPr/>
        </p:nvSpPr>
        <p:spPr>
          <a:xfrm>
            <a:off x="1516745" y="3156501"/>
            <a:ext cx="4593449" cy="0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DE88DC9-6A84-C09A-1691-9B619837C66C}"/>
              </a:ext>
            </a:extLst>
          </p:cNvPr>
          <p:cNvSpPr/>
          <p:nvPr/>
        </p:nvSpPr>
        <p:spPr>
          <a:xfrm flipV="1">
            <a:off x="6110194" y="2485829"/>
            <a:ext cx="0" cy="683372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216DB5D-553A-2417-3EBB-51C8F3221DDB}"/>
              </a:ext>
            </a:extLst>
          </p:cNvPr>
          <p:cNvSpPr/>
          <p:nvPr/>
        </p:nvSpPr>
        <p:spPr>
          <a:xfrm flipV="1">
            <a:off x="1529445" y="3156501"/>
            <a:ext cx="0" cy="683372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3C063D6-4737-A0DA-F9C2-961D684459C1}"/>
              </a:ext>
            </a:extLst>
          </p:cNvPr>
          <p:cNvSpPr/>
          <p:nvPr/>
        </p:nvSpPr>
        <p:spPr>
          <a:xfrm flipV="1">
            <a:off x="4099553" y="3169201"/>
            <a:ext cx="0" cy="683372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782097D-D6FF-4C8C-E07B-59BF86934AE0}"/>
              </a:ext>
            </a:extLst>
          </p:cNvPr>
          <p:cNvSpPr/>
          <p:nvPr/>
        </p:nvSpPr>
        <p:spPr>
          <a:xfrm flipV="1">
            <a:off x="6932930" y="3169201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70F5E6C-8F50-F211-507C-005BBF6AA053}"/>
              </a:ext>
            </a:extLst>
          </p:cNvPr>
          <p:cNvSpPr/>
          <p:nvPr/>
        </p:nvSpPr>
        <p:spPr>
          <a:xfrm flipV="1">
            <a:off x="8219701" y="3169201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ABDF7356-DE0C-5472-9EAC-8587637C71B9}"/>
              </a:ext>
            </a:extLst>
          </p:cNvPr>
          <p:cNvSpPr/>
          <p:nvPr/>
        </p:nvSpPr>
        <p:spPr>
          <a:xfrm flipV="1">
            <a:off x="9508751" y="3156501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0C7EED38-8319-A04F-A8BC-542840D542E9}"/>
              </a:ext>
            </a:extLst>
          </p:cNvPr>
          <p:cNvSpPr/>
          <p:nvPr/>
        </p:nvSpPr>
        <p:spPr>
          <a:xfrm flipV="1">
            <a:off x="10716343" y="3169201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6C0F2511-2CC7-8E7B-585E-D6CE15C67E9A}"/>
              </a:ext>
            </a:extLst>
          </p:cNvPr>
          <p:cNvSpPr/>
          <p:nvPr/>
        </p:nvSpPr>
        <p:spPr>
          <a:xfrm flipV="1">
            <a:off x="6122894" y="3156501"/>
            <a:ext cx="4593449" cy="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EBB3E81-FACA-DA11-3810-7BA619FDA7A0}"/>
              </a:ext>
            </a:extLst>
          </p:cNvPr>
          <p:cNvSpPr/>
          <p:nvPr/>
        </p:nvSpPr>
        <p:spPr>
          <a:xfrm flipV="1">
            <a:off x="6135594" y="2485829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8EE6D3D-F1B0-00D8-B195-E6849873A2CF}"/>
              </a:ext>
            </a:extLst>
          </p:cNvPr>
          <p:cNvSpPr txBox="1"/>
          <p:nvPr/>
        </p:nvSpPr>
        <p:spPr>
          <a:xfrm>
            <a:off x="5434249" y="1766029"/>
            <a:ext cx="1682609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ModalitySort</a:t>
            </a:r>
            <a:endParaRPr lang="en-US" sz="22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9D0A094-6A3C-BEA7-4BDF-90FA0394A41D}"/>
              </a:ext>
            </a:extLst>
          </p:cNvPr>
          <p:cNvSpPr txBox="1"/>
          <p:nvPr/>
        </p:nvSpPr>
        <p:spPr>
          <a:xfrm>
            <a:off x="3380162" y="2575734"/>
            <a:ext cx="371921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D155D37-6999-EB92-3F3D-C6ED37E2DFEA}"/>
              </a:ext>
            </a:extLst>
          </p:cNvPr>
          <p:cNvSpPr txBox="1"/>
          <p:nvPr/>
        </p:nvSpPr>
        <p:spPr>
          <a:xfrm>
            <a:off x="8381311" y="2575734"/>
            <a:ext cx="1297577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MRI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9BFE505-70FE-E24E-47BA-3CBD2A54CD94}"/>
              </a:ext>
            </a:extLst>
          </p:cNvPr>
          <p:cNvSpPr txBox="1"/>
          <p:nvPr/>
        </p:nvSpPr>
        <p:spPr>
          <a:xfrm>
            <a:off x="1035151" y="3829411"/>
            <a:ext cx="1037241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ncCT</a:t>
            </a:r>
            <a:endParaRPr lang="en-US" sz="22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05BF3F8-6A53-3B24-BF04-FF838DD13A5F}"/>
              </a:ext>
            </a:extLst>
          </p:cNvPr>
          <p:cNvSpPr txBox="1"/>
          <p:nvPr/>
        </p:nvSpPr>
        <p:spPr>
          <a:xfrm>
            <a:off x="3619599" y="3831380"/>
            <a:ext cx="931146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CTA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FC59FD9-EC39-E01B-46D5-FCB5390A651C}"/>
              </a:ext>
            </a:extLst>
          </p:cNvPr>
          <p:cNvSpPr txBox="1"/>
          <p:nvPr/>
        </p:nvSpPr>
        <p:spPr>
          <a:xfrm>
            <a:off x="6114851" y="3818865"/>
            <a:ext cx="1605788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MRA-TOF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6BBCDA1-3813-F580-3FA9-99220A41D7AB}"/>
              </a:ext>
            </a:extLst>
          </p:cNvPr>
          <p:cNvSpPr txBox="1"/>
          <p:nvPr/>
        </p:nvSpPr>
        <p:spPr>
          <a:xfrm>
            <a:off x="7948635" y="3808124"/>
            <a:ext cx="542131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T2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8AC210C2-4A7A-2C4F-290A-DA9D68AC3C53}"/>
              </a:ext>
            </a:extLst>
          </p:cNvPr>
          <p:cNvSpPr txBox="1"/>
          <p:nvPr/>
        </p:nvSpPr>
        <p:spPr>
          <a:xfrm>
            <a:off x="8805275" y="3820824"/>
            <a:ext cx="1338017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FLAIR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2FB4250-E3F8-E47D-3C79-B6D8D5D6A00A}"/>
              </a:ext>
            </a:extLst>
          </p:cNvPr>
          <p:cNvSpPr txBox="1"/>
          <p:nvPr/>
        </p:nvSpPr>
        <p:spPr>
          <a:xfrm>
            <a:off x="10448939" y="3820824"/>
            <a:ext cx="570767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T1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10D31D-7774-E414-A3A5-872A98BF19B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/>
              <a:t>ModalitySort</a:t>
            </a:r>
            <a:r>
              <a:rPr lang="en-US" sz="4000" dirty="0"/>
              <a:t>: Medical Image Modality Sorter Tool</a:t>
            </a:r>
          </a:p>
        </p:txBody>
      </p:sp>
      <p:sp>
        <p:nvSpPr>
          <p:cNvPr id="14" name="AutoShape 15">
            <a:extLst>
              <a:ext uri="{FF2B5EF4-FFF2-40B4-BE49-F238E27FC236}">
                <a16:creationId xmlns:a16="http://schemas.microsoft.com/office/drawing/2014/main" id="{641BD0A8-E8FC-BD14-C615-A4AF6211F51E}"/>
              </a:ext>
            </a:extLst>
          </p:cNvPr>
          <p:cNvSpPr/>
          <p:nvPr/>
        </p:nvSpPr>
        <p:spPr>
          <a:xfrm flipH="1">
            <a:off x="1545023" y="4314860"/>
            <a:ext cx="0" cy="879228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Freeform 19">
            <a:extLst>
              <a:ext uri="{FF2B5EF4-FFF2-40B4-BE49-F238E27FC236}">
                <a16:creationId xmlns:a16="http://schemas.microsoft.com/office/drawing/2014/main" id="{C448FF30-F637-65D7-242F-FAACC4A07E51}"/>
              </a:ext>
            </a:extLst>
          </p:cNvPr>
          <p:cNvSpPr/>
          <p:nvPr/>
        </p:nvSpPr>
        <p:spPr>
          <a:xfrm>
            <a:off x="1013702" y="5295225"/>
            <a:ext cx="1037241" cy="572557"/>
          </a:xfrm>
          <a:custGeom>
            <a:avLst/>
            <a:gdLst/>
            <a:ahLst/>
            <a:cxnLst/>
            <a:rect l="l" t="t" r="r" b="b"/>
            <a:pathLst>
              <a:path w="1555861" h="858836">
                <a:moveTo>
                  <a:pt x="0" y="0"/>
                </a:moveTo>
                <a:lnTo>
                  <a:pt x="1555861" y="0"/>
                </a:lnTo>
                <a:lnTo>
                  <a:pt x="1555861" y="858836"/>
                </a:lnTo>
                <a:lnTo>
                  <a:pt x="0" y="858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38100" cap="sq">
            <a:solidFill>
              <a:srgbClr val="FF0013"/>
            </a:solidFill>
            <a:prstDash val="solid"/>
            <a:miter/>
          </a:ln>
        </p:spPr>
        <p:txBody>
          <a:bodyPr/>
          <a:lstStyle/>
          <a:p>
            <a:endParaRPr lang="en-US" sz="1200"/>
          </a:p>
        </p:txBody>
      </p:sp>
      <p:sp>
        <p:nvSpPr>
          <p:cNvPr id="16" name="TextBox 36">
            <a:extLst>
              <a:ext uri="{FF2B5EF4-FFF2-40B4-BE49-F238E27FC236}">
                <a16:creationId xmlns:a16="http://schemas.microsoft.com/office/drawing/2014/main" id="{55BD3F43-94EB-8D7E-1EB2-D9575DC3F82B}"/>
              </a:ext>
            </a:extLst>
          </p:cNvPr>
          <p:cNvSpPr txBox="1"/>
          <p:nvPr/>
        </p:nvSpPr>
        <p:spPr>
          <a:xfrm>
            <a:off x="1072364" y="5425242"/>
            <a:ext cx="978579" cy="31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4"/>
              </a:lnSpc>
              <a:spcBef>
                <a:spcPct val="0"/>
              </a:spcBef>
            </a:pPr>
            <a:r>
              <a:rPr lang="en-US" sz="184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VBAI</a:t>
            </a:r>
          </a:p>
        </p:txBody>
      </p:sp>
    </p:spTree>
    <p:extLst>
      <p:ext uri="{BB962C8B-B14F-4D97-AF65-F5344CB8AC3E}">
        <p14:creationId xmlns:p14="http://schemas.microsoft.com/office/powerpoint/2010/main" val="2101923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03BA-8089-786F-1A98-3100382B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8FEF-608C-8154-9512-65EA13E15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B5536-FCF9-86AE-2DDD-AC8DDD634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74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F1BC0D6-E23F-B3B3-14C8-AA8E2EBDE319}"/>
              </a:ext>
            </a:extLst>
          </p:cNvPr>
          <p:cNvGrpSpPr/>
          <p:nvPr/>
        </p:nvGrpSpPr>
        <p:grpSpPr>
          <a:xfrm>
            <a:off x="1855694" y="1519517"/>
            <a:ext cx="3030070" cy="2599765"/>
            <a:chOff x="1039906" y="923364"/>
            <a:chExt cx="2528047" cy="2183887"/>
          </a:xfrm>
        </p:grpSpPr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20F14656-2E2B-81C4-079A-D9E3250C9730}"/>
                </a:ext>
              </a:extLst>
            </p:cNvPr>
            <p:cNvSpPr/>
            <p:nvPr/>
          </p:nvSpPr>
          <p:spPr>
            <a:xfrm>
              <a:off x="1039906" y="923364"/>
              <a:ext cx="2528047" cy="2183887"/>
            </a:xfrm>
            <a:prstGeom prst="cub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B6EE00E-E8B4-BB5A-27BC-EA872C653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0165" y="1515035"/>
              <a:ext cx="1833635" cy="1592216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11DF48-CE2E-1520-A12D-D525747C51AB}"/>
              </a:ext>
            </a:extLst>
          </p:cNvPr>
          <p:cNvGrpSpPr/>
          <p:nvPr/>
        </p:nvGrpSpPr>
        <p:grpSpPr>
          <a:xfrm>
            <a:off x="7715305" y="1627092"/>
            <a:ext cx="2154835" cy="2384615"/>
            <a:chOff x="7813916" y="936809"/>
            <a:chExt cx="2154835" cy="238461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205FBEE-AF1C-A917-40C0-0A85B1B12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289"/>
            <a:stretch>
              <a:fillRect/>
            </a:stretch>
          </p:blipFill>
          <p:spPr>
            <a:xfrm>
              <a:off x="7813916" y="936809"/>
              <a:ext cx="1697635" cy="192741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ADAEC1B-9370-040C-99E3-7DAC51165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289"/>
            <a:stretch>
              <a:fillRect/>
            </a:stretch>
          </p:blipFill>
          <p:spPr>
            <a:xfrm>
              <a:off x="7966316" y="1089209"/>
              <a:ext cx="1697635" cy="192741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5CF8AB6-6121-30B0-0DB1-3EABE2268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289"/>
            <a:stretch>
              <a:fillRect/>
            </a:stretch>
          </p:blipFill>
          <p:spPr>
            <a:xfrm>
              <a:off x="8118716" y="1241609"/>
              <a:ext cx="1697635" cy="192741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7F07A55-2DC0-A781-3E8D-27D43117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289"/>
            <a:stretch>
              <a:fillRect/>
            </a:stretch>
          </p:blipFill>
          <p:spPr>
            <a:xfrm>
              <a:off x="8271116" y="1394009"/>
              <a:ext cx="1697635" cy="1927415"/>
            </a:xfrm>
            <a:prstGeom prst="rect">
              <a:avLst/>
            </a:prstGeom>
            <a:ln w="12700">
              <a:solidFill>
                <a:schemeClr val="accent2"/>
              </a:solidFill>
            </a:ln>
          </p:spPr>
        </p:pic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40A22B-C6EB-BA47-EEC7-DF4AEBD27560}"/>
              </a:ext>
            </a:extLst>
          </p:cNvPr>
          <p:cNvCxnSpPr>
            <a:cxnSpLocks/>
          </p:cNvCxnSpPr>
          <p:nvPr/>
        </p:nvCxnSpPr>
        <p:spPr>
          <a:xfrm>
            <a:off x="1855694" y="2743198"/>
            <a:ext cx="225800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6D409C3-B088-64E0-1882-9480E07A2FF7}"/>
              </a:ext>
            </a:extLst>
          </p:cNvPr>
          <p:cNvCxnSpPr>
            <a:cxnSpLocks/>
          </p:cNvCxnSpPr>
          <p:nvPr/>
        </p:nvCxnSpPr>
        <p:spPr>
          <a:xfrm flipV="1">
            <a:off x="4113695" y="2084291"/>
            <a:ext cx="772069" cy="6589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Right Arrow 22">
            <a:extLst>
              <a:ext uri="{FF2B5EF4-FFF2-40B4-BE49-F238E27FC236}">
                <a16:creationId xmlns:a16="http://schemas.microsoft.com/office/drawing/2014/main" id="{F27555E6-C142-B966-9D63-A2A8A7509BD4}"/>
              </a:ext>
            </a:extLst>
          </p:cNvPr>
          <p:cNvSpPr/>
          <p:nvPr/>
        </p:nvSpPr>
        <p:spPr>
          <a:xfrm>
            <a:off x="5638800" y="2489946"/>
            <a:ext cx="932330" cy="32945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7BCFDD38-D306-9B42-B669-E2BA188785D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Decomposing 3D Neuroimaging Volumes into 2D Axial Slices as input for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664126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4F758-2B57-224E-E2DD-4D3C1614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5C5E491-893F-3A05-3D39-B5AFF944DD91}"/>
              </a:ext>
            </a:extLst>
          </p:cNvPr>
          <p:cNvGraphicFramePr>
            <a:graphicFrameLocks noGrp="1"/>
          </p:cNvGraphicFramePr>
          <p:nvPr/>
        </p:nvGraphicFramePr>
        <p:xfrm>
          <a:off x="1532965" y="4240076"/>
          <a:ext cx="8937811" cy="24135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7665">
                  <a:extLst>
                    <a:ext uri="{9D8B030D-6E8A-4147-A177-3AD203B41FA5}">
                      <a16:colId xmlns:a16="http://schemas.microsoft.com/office/drawing/2014/main" val="3267680708"/>
                    </a:ext>
                  </a:extLst>
                </a:gridCol>
                <a:gridCol w="1159314">
                  <a:extLst>
                    <a:ext uri="{9D8B030D-6E8A-4147-A177-3AD203B41FA5}">
                      <a16:colId xmlns:a16="http://schemas.microsoft.com/office/drawing/2014/main" val="855838044"/>
                    </a:ext>
                  </a:extLst>
                </a:gridCol>
                <a:gridCol w="1220530">
                  <a:extLst>
                    <a:ext uri="{9D8B030D-6E8A-4147-A177-3AD203B41FA5}">
                      <a16:colId xmlns:a16="http://schemas.microsoft.com/office/drawing/2014/main" val="3254977567"/>
                    </a:ext>
                  </a:extLst>
                </a:gridCol>
                <a:gridCol w="1491229">
                  <a:extLst>
                    <a:ext uri="{9D8B030D-6E8A-4147-A177-3AD203B41FA5}">
                      <a16:colId xmlns:a16="http://schemas.microsoft.com/office/drawing/2014/main" val="2949146455"/>
                    </a:ext>
                  </a:extLst>
                </a:gridCol>
                <a:gridCol w="1621318">
                  <a:extLst>
                    <a:ext uri="{9D8B030D-6E8A-4147-A177-3AD203B41FA5}">
                      <a16:colId xmlns:a16="http://schemas.microsoft.com/office/drawing/2014/main" val="1228183574"/>
                    </a:ext>
                  </a:extLst>
                </a:gridCol>
                <a:gridCol w="1897755">
                  <a:extLst>
                    <a:ext uri="{9D8B030D-6E8A-4147-A177-3AD203B41FA5}">
                      <a16:colId xmlns:a16="http://schemas.microsoft.com/office/drawing/2014/main" val="1995129246"/>
                    </a:ext>
                  </a:extLst>
                </a:gridCol>
              </a:tblGrid>
              <a:tr h="5201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Data Sources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Image Modality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Total </a:t>
                      </a:r>
                      <a:r>
                        <a:rPr lang="en-CA" sz="1600" kern="100" dirty="0" err="1">
                          <a:effectLst/>
                        </a:rPr>
                        <a:t>nifti</a:t>
                      </a:r>
                      <a:r>
                        <a:rPr lang="en-CA" sz="1600" kern="100" dirty="0">
                          <a:effectLst/>
                        </a:rPr>
                        <a:t> volumes 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Training 2D slices (80%)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Test 2D slices (20%)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Total number of 2D slice cases 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555489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Stroke SOOP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T1w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1985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496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2481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1134848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BraTS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T2w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1240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310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1550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6504898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 err="1">
                          <a:effectLst/>
                        </a:rPr>
                        <a:t>BraTS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FLAIR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10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1240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310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1550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8956504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TopCoW 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MRA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1536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384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1920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3114578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CQ500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ncCT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2411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603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3014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0132903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Large IA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CTA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4687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1172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5859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4493780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Total 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 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60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13099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>
                          <a:effectLst/>
                        </a:rPr>
                        <a:t>3275</a:t>
                      </a:r>
                      <a:endParaRPr lang="en-CA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600" kern="100" dirty="0">
                          <a:effectLst/>
                        </a:rPr>
                        <a:t>16374</a:t>
                      </a:r>
                      <a:endParaRPr lang="en-CA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9740651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97EF99C7-44CE-443E-7062-1C4FCBD18B87}"/>
              </a:ext>
            </a:extLst>
          </p:cNvPr>
          <p:cNvGrpSpPr/>
          <p:nvPr/>
        </p:nvGrpSpPr>
        <p:grpSpPr>
          <a:xfrm>
            <a:off x="1855694" y="1519517"/>
            <a:ext cx="3030070" cy="2599765"/>
            <a:chOff x="1039906" y="923364"/>
            <a:chExt cx="2528047" cy="2183887"/>
          </a:xfrm>
        </p:grpSpPr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8533C017-E6E2-4E07-16B1-CBB04949C00E}"/>
                </a:ext>
              </a:extLst>
            </p:cNvPr>
            <p:cNvSpPr/>
            <p:nvPr/>
          </p:nvSpPr>
          <p:spPr>
            <a:xfrm>
              <a:off x="1039906" y="923364"/>
              <a:ext cx="2528047" cy="2183887"/>
            </a:xfrm>
            <a:prstGeom prst="cub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8F9499-F98E-9E03-14FB-AC0D53AAC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0165" y="1515035"/>
              <a:ext cx="1833635" cy="1592216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F666660-30CF-8535-E9C0-C008695C9253}"/>
              </a:ext>
            </a:extLst>
          </p:cNvPr>
          <p:cNvGrpSpPr/>
          <p:nvPr/>
        </p:nvGrpSpPr>
        <p:grpSpPr>
          <a:xfrm>
            <a:off x="7715305" y="1627092"/>
            <a:ext cx="2154835" cy="2384615"/>
            <a:chOff x="7813916" y="936809"/>
            <a:chExt cx="2154835" cy="238461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EBB5294-3C23-3863-EF1F-ED8BF9690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289"/>
            <a:stretch>
              <a:fillRect/>
            </a:stretch>
          </p:blipFill>
          <p:spPr>
            <a:xfrm>
              <a:off x="7813916" y="936809"/>
              <a:ext cx="1697635" cy="192741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C76ED91-EC9B-1689-248C-EFE9F9C18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289"/>
            <a:stretch>
              <a:fillRect/>
            </a:stretch>
          </p:blipFill>
          <p:spPr>
            <a:xfrm>
              <a:off x="7966316" y="1089209"/>
              <a:ext cx="1697635" cy="192741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157685C-8013-218F-1DD8-DB0A89DF2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289"/>
            <a:stretch>
              <a:fillRect/>
            </a:stretch>
          </p:blipFill>
          <p:spPr>
            <a:xfrm>
              <a:off x="8118716" y="1241609"/>
              <a:ext cx="1697635" cy="192741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0E4D38A-9060-CF2A-9D44-FCA55BAFD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289"/>
            <a:stretch>
              <a:fillRect/>
            </a:stretch>
          </p:blipFill>
          <p:spPr>
            <a:xfrm>
              <a:off x="8271116" y="1394009"/>
              <a:ext cx="1697635" cy="1927415"/>
            </a:xfrm>
            <a:prstGeom prst="rect">
              <a:avLst/>
            </a:prstGeom>
            <a:ln w="12700">
              <a:solidFill>
                <a:schemeClr val="accent2"/>
              </a:solidFill>
            </a:ln>
          </p:spPr>
        </p:pic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D2D3BA-6C94-168B-A87B-F5B4F34D90FD}"/>
              </a:ext>
            </a:extLst>
          </p:cNvPr>
          <p:cNvCxnSpPr>
            <a:cxnSpLocks/>
          </p:cNvCxnSpPr>
          <p:nvPr/>
        </p:nvCxnSpPr>
        <p:spPr>
          <a:xfrm>
            <a:off x="1855694" y="2743198"/>
            <a:ext cx="225800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3EA1390-1A01-3B97-4E07-C4CA9CBCDAC7}"/>
              </a:ext>
            </a:extLst>
          </p:cNvPr>
          <p:cNvCxnSpPr>
            <a:cxnSpLocks/>
          </p:cNvCxnSpPr>
          <p:nvPr/>
        </p:nvCxnSpPr>
        <p:spPr>
          <a:xfrm flipV="1">
            <a:off x="4113695" y="2084291"/>
            <a:ext cx="772069" cy="6589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Right Arrow 22">
            <a:extLst>
              <a:ext uri="{FF2B5EF4-FFF2-40B4-BE49-F238E27FC236}">
                <a16:creationId xmlns:a16="http://schemas.microsoft.com/office/drawing/2014/main" id="{13C68B03-4710-8F73-02B0-0C6D4B267393}"/>
              </a:ext>
            </a:extLst>
          </p:cNvPr>
          <p:cNvSpPr/>
          <p:nvPr/>
        </p:nvSpPr>
        <p:spPr>
          <a:xfrm>
            <a:off x="5638800" y="2489946"/>
            <a:ext cx="932330" cy="32945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5CE8523-470F-8B3A-82BA-D4FA4C007A7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Decomposing 3D Neuroimaging Volumes into 2D Axial Slices as input for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036259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69EC2-CF7D-35EB-002F-ECA2491E4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7" y="192073"/>
            <a:ext cx="113538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Data Augmentation Strategies Applied During Model Training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8582C8-EDD4-B59D-97D5-2C684AE30CD2}"/>
              </a:ext>
            </a:extLst>
          </p:cNvPr>
          <p:cNvSpPr/>
          <p:nvPr/>
        </p:nvSpPr>
        <p:spPr>
          <a:xfrm>
            <a:off x="3850482" y="2488697"/>
            <a:ext cx="1905000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RandFlipd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CC82D85-01F6-CAB6-BA01-6BC4DE032325}"/>
              </a:ext>
            </a:extLst>
          </p:cNvPr>
          <p:cNvSpPr/>
          <p:nvPr/>
        </p:nvSpPr>
        <p:spPr>
          <a:xfrm>
            <a:off x="9608880" y="3746217"/>
            <a:ext cx="1905000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RandAffined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1450E92-A4C0-BEAD-2F54-BF06D52AE23A}"/>
              </a:ext>
            </a:extLst>
          </p:cNvPr>
          <p:cNvSpPr/>
          <p:nvPr/>
        </p:nvSpPr>
        <p:spPr>
          <a:xfrm>
            <a:off x="7002347" y="2443196"/>
            <a:ext cx="1905000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RandZoomd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A07487-670F-5682-F7EE-8DED811B0988}"/>
              </a:ext>
            </a:extLst>
          </p:cNvPr>
          <p:cNvSpPr/>
          <p:nvPr/>
        </p:nvSpPr>
        <p:spPr>
          <a:xfrm>
            <a:off x="3563342" y="5395746"/>
            <a:ext cx="2656158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RandGaussianNoised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ABD0401-CC72-DD66-B564-FF8908C750E0}"/>
              </a:ext>
            </a:extLst>
          </p:cNvPr>
          <p:cNvSpPr/>
          <p:nvPr/>
        </p:nvSpPr>
        <p:spPr>
          <a:xfrm>
            <a:off x="6967824" y="5395905"/>
            <a:ext cx="2454452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RandAdjustContrastd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12D059-3445-E9F2-EE59-96331D74D3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89"/>
          <a:stretch>
            <a:fillRect/>
          </a:stretch>
        </p:blipFill>
        <p:spPr>
          <a:xfrm>
            <a:off x="900492" y="3054638"/>
            <a:ext cx="1697635" cy="1927415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ABDCF2-CF21-4355-6F13-7BEEA2A6E7D1}"/>
              </a:ext>
            </a:extLst>
          </p:cNvPr>
          <p:cNvSpPr txBox="1"/>
          <p:nvPr/>
        </p:nvSpPr>
        <p:spPr>
          <a:xfrm>
            <a:off x="1292110" y="2555535"/>
            <a:ext cx="96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B71CBD-1251-3ABF-4FC6-2E2D877511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89"/>
          <a:stretch>
            <a:fillRect/>
          </a:stretch>
        </p:blipFill>
        <p:spPr>
          <a:xfrm rot="10800000">
            <a:off x="3441564" y="1163134"/>
            <a:ext cx="1304141" cy="1480660"/>
          </a:xfrm>
          <a:prstGeom prst="rect">
            <a:avLst/>
          </a:prstGeom>
          <a:ln w="12700"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B10972-F9E4-F0B9-C4BB-4E87854A15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89"/>
          <a:stretch>
            <a:fillRect/>
          </a:stretch>
        </p:blipFill>
        <p:spPr>
          <a:xfrm rot="16200000">
            <a:off x="4891242" y="1163134"/>
            <a:ext cx="1304141" cy="1480660"/>
          </a:xfrm>
          <a:prstGeom prst="rect">
            <a:avLst/>
          </a:prstGeom>
          <a:ln w="12700"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0BE5E6-1851-085E-D533-79EE6ECE9C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89"/>
          <a:stretch>
            <a:fillRect/>
          </a:stretch>
        </p:blipFill>
        <p:spPr>
          <a:xfrm rot="18100162">
            <a:off x="9929246" y="2384847"/>
            <a:ext cx="1304141" cy="1480660"/>
          </a:xfrm>
          <a:prstGeom prst="rect">
            <a:avLst/>
          </a:prstGeom>
          <a:ln w="12700"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263491-E14E-BDE5-F79B-F751341A2A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86" t="34521" r="12573" b="19596"/>
          <a:stretch>
            <a:fillRect/>
          </a:stretch>
        </p:blipFill>
        <p:spPr>
          <a:xfrm>
            <a:off x="7273167" y="1573189"/>
            <a:ext cx="1346189" cy="1077154"/>
          </a:xfrm>
          <a:prstGeom prst="rect">
            <a:avLst/>
          </a:prstGeom>
          <a:ln w="12700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C6E8E0C-1914-DD57-BE04-A09D90ABA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145" y="4300334"/>
            <a:ext cx="1092867" cy="1248754"/>
          </a:xfrm>
          <a:prstGeom prst="rect">
            <a:avLst/>
          </a:prstGeom>
        </p:spPr>
      </p:pic>
      <p:pic>
        <p:nvPicPr>
          <p:cNvPr id="2050" name="Picture 2" descr="Generating data with random Gaussian noise - Open Data Science - Your News  Source for AI, Machine Learning &amp; more">
            <a:extLst>
              <a:ext uri="{FF2B5EF4-FFF2-40B4-BE49-F238E27FC236}">
                <a16:creationId xmlns:a16="http://schemas.microsoft.com/office/drawing/2014/main" id="{CD734246-BE63-EFCE-2590-FFFA6135AA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88" b="50000"/>
          <a:stretch>
            <a:fillRect/>
          </a:stretch>
        </p:blipFill>
        <p:spPr bwMode="auto">
          <a:xfrm>
            <a:off x="4316791" y="4281149"/>
            <a:ext cx="1149259" cy="132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436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1200-CBFC-06AC-40A7-1CC336A8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Model Architecture: DenseNet-121 for Multi-Class Neuroimaging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FCCDA-04C9-E157-3BEE-FF9F63584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Densely connected convolutional neural network (CNN) widely used for image 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82A80-0F59-20BE-3608-BA08EF3DC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80" y="3049945"/>
            <a:ext cx="10645420" cy="240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B66A9-4FC6-10BA-B65F-B6E75D08D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6490"/>
            <a:ext cx="10515600" cy="1325563"/>
          </a:xfrm>
        </p:spPr>
        <p:txBody>
          <a:bodyPr/>
          <a:lstStyle/>
          <a:p>
            <a:r>
              <a:rPr lang="en-US" dirty="0"/>
              <a:t>Training &amp; Validation Configuration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1255B-D189-969B-2199-E853E4FE8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64416"/>
            <a:ext cx="10079224" cy="3684588"/>
          </a:xfrm>
        </p:spPr>
        <p:txBody>
          <a:bodyPr>
            <a:normAutofit/>
          </a:bodyPr>
          <a:lstStyle/>
          <a:p>
            <a:r>
              <a:rPr lang="en-US" dirty="0"/>
              <a:t>20 epochs</a:t>
            </a:r>
          </a:p>
          <a:p>
            <a:r>
              <a:rPr lang="en-US" dirty="0"/>
              <a:t>Adam optimizer</a:t>
            </a:r>
          </a:p>
          <a:p>
            <a:r>
              <a:rPr lang="en-US" dirty="0"/>
              <a:t>Fixed learning rate </a:t>
            </a:r>
          </a:p>
          <a:p>
            <a:r>
              <a:rPr lang="en-US" dirty="0"/>
              <a:t>Cross Entropy Loss</a:t>
            </a:r>
          </a:p>
          <a:p>
            <a:r>
              <a:rPr lang="en-US" dirty="0"/>
              <a:t>No Data Augmentations on the Validation set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9586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0582B-65C2-DDCC-02F1-38831AD8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3E8C-EE09-D845-CA0A-85A5BF9C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036D9-3075-F2CC-772D-812107855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13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3FBA-45CF-295F-2BE6-FA5C7BBC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Classification Performance: Overall, 96% Accuracy Across Test set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94FB5D-09BC-40E0-8609-F3C2B881E7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51" r="25894"/>
          <a:stretch/>
        </p:blipFill>
        <p:spPr bwMode="auto">
          <a:xfrm>
            <a:off x="2605554" y="2554942"/>
            <a:ext cx="6455122" cy="33700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05776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4AA51-49FA-967B-2B14-E6B7672F9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F906-3318-BF88-03A3-FFF2440BD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Classification Performance: Observed in a Confusion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FAAC6-1F5D-4B82-822E-81731591F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302" y="1516137"/>
            <a:ext cx="6635396" cy="497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33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D32B4-6E0C-8F6A-A0DD-A17B147F3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53" y="230649"/>
            <a:ext cx="10941424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Comparing Ground Truth Labels Against Model Predictions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A5C56B-F4EE-4A1C-8E52-0644B4415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353" y="1201216"/>
            <a:ext cx="5513294" cy="55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16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9B63-8D81-9951-EA7B-B76A9174A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745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Monitoring Model’s Learning through Training &amp; Validation Loss/ Accuracy Over 20 Epochs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9F0D7A-15E4-40B8-9D66-D291994ED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51" y="2415820"/>
            <a:ext cx="5407309" cy="32319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E6884B-DF5A-432F-AF81-10FD39C7A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823" y="2566988"/>
            <a:ext cx="5218414" cy="308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7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1C5C-90BB-790E-6D68-DEED8B77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20 of 24 Unseen Volumes were Correctly Classified with Confidence Scores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86C9A8-7625-589F-6821-C23C7D1AB5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889494"/>
              </p:ext>
            </p:extLst>
          </p:nvPr>
        </p:nvGraphicFramePr>
        <p:xfrm>
          <a:off x="2996454" y="1479049"/>
          <a:ext cx="6199091" cy="52384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5384">
                  <a:extLst>
                    <a:ext uri="{9D8B030D-6E8A-4147-A177-3AD203B41FA5}">
                      <a16:colId xmlns:a16="http://schemas.microsoft.com/office/drawing/2014/main" val="913116241"/>
                    </a:ext>
                  </a:extLst>
                </a:gridCol>
                <a:gridCol w="1559399">
                  <a:extLst>
                    <a:ext uri="{9D8B030D-6E8A-4147-A177-3AD203B41FA5}">
                      <a16:colId xmlns:a16="http://schemas.microsoft.com/office/drawing/2014/main" val="2634555440"/>
                    </a:ext>
                  </a:extLst>
                </a:gridCol>
                <a:gridCol w="1886679">
                  <a:extLst>
                    <a:ext uri="{9D8B030D-6E8A-4147-A177-3AD203B41FA5}">
                      <a16:colId xmlns:a16="http://schemas.microsoft.com/office/drawing/2014/main" val="752587069"/>
                    </a:ext>
                  </a:extLst>
                </a:gridCol>
                <a:gridCol w="1347629">
                  <a:extLst>
                    <a:ext uri="{9D8B030D-6E8A-4147-A177-3AD203B41FA5}">
                      <a16:colId xmlns:a16="http://schemas.microsoft.com/office/drawing/2014/main" val="2395906705"/>
                    </a:ext>
                  </a:extLst>
                </a:gridCol>
              </a:tblGrid>
              <a:tr h="4393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Ground Truth Label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Predicted Modality Label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Average Confidence Score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Correct Prediction?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4103844262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CTA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CTA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0.9996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Yes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799500607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CTA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CTA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0.9901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Yes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3761018648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CTA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CTA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0.9966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Yes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3354188954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CTA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CTA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0.9999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Yes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1339207276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FLAIR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T1w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0.6521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No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1976626734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FLAIR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FLAIR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0.9487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Yes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1618194262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FLAIR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T1w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0.7476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No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3548636290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FLAIR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T1w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0.7651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No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3372467032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MRA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MRA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1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Yes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1767062849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MRA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MRA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1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Yes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1570108380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MRA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MRA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1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Yes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660842153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MRA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MRA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1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Yes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2696302293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ncCT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ncCT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0.9988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Yes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1606756608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ncCT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ncCT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0.9989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Yes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115656052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ncCT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ncCT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0.5178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Yes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253963932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ncCT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ncCT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0.9748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Yes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1886528263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T1w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T2w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0.7492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No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2847351240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T1w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T1w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0.7198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Yes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2031211190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T1w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T1w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0.4887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Yes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3026269368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T1w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T1w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0.5216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Yes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659915625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T2w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T2w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0.7895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Yes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844658176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T2w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T2w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0.6398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Yes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3265457936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T2w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T2w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0.8602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Yes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3140701886"/>
                  </a:ext>
                </a:extLst>
              </a:tr>
              <a:tr h="194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T2w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>
                          <a:effectLst/>
                        </a:rPr>
                        <a:t>T2w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0.8047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0" dirty="0">
                          <a:effectLst/>
                        </a:rPr>
                        <a:t>Yes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283" marR="54283" marT="0" marB="0"/>
                </a:tc>
                <a:extLst>
                  <a:ext uri="{0D108BD9-81ED-4DB2-BD59-A6C34878D82A}">
                    <a16:rowId xmlns:a16="http://schemas.microsoft.com/office/drawing/2014/main" val="408465926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AFDCB3E-5A32-6508-FC9F-D6DBC4FF4F90}"/>
              </a:ext>
            </a:extLst>
          </p:cNvPr>
          <p:cNvSpPr/>
          <p:nvPr/>
        </p:nvSpPr>
        <p:spPr>
          <a:xfrm>
            <a:off x="2996454" y="2716306"/>
            <a:ext cx="6199091" cy="197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C5CFCB-9567-793A-92C3-364AE7D2735D}"/>
              </a:ext>
            </a:extLst>
          </p:cNvPr>
          <p:cNvSpPr/>
          <p:nvPr/>
        </p:nvSpPr>
        <p:spPr>
          <a:xfrm>
            <a:off x="2996454" y="3128682"/>
            <a:ext cx="6199091" cy="197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E01BFC-F204-02BF-AE75-6C0AB661DE3F}"/>
              </a:ext>
            </a:extLst>
          </p:cNvPr>
          <p:cNvSpPr/>
          <p:nvPr/>
        </p:nvSpPr>
        <p:spPr>
          <a:xfrm>
            <a:off x="2996454" y="3325905"/>
            <a:ext cx="6199091" cy="197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BDECD8-C155-83C0-332F-64259733325A}"/>
              </a:ext>
            </a:extLst>
          </p:cNvPr>
          <p:cNvSpPr/>
          <p:nvPr/>
        </p:nvSpPr>
        <p:spPr>
          <a:xfrm>
            <a:off x="2996453" y="5118973"/>
            <a:ext cx="6199091" cy="197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50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CD21-DEE1-4222-35FF-B75CC15B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Investigating Misclassifications through a Per-Slice Prediction Breakdown of the External Volumes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E24AA-FE65-E453-2DB8-EBAF52822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0965"/>
            <a:ext cx="10515600" cy="4351338"/>
          </a:xfrm>
        </p:spPr>
        <p:txBody>
          <a:bodyPr/>
          <a:lstStyle/>
          <a:p>
            <a:r>
              <a:rPr lang="en-US" dirty="0"/>
              <a:t>3 FLAIR volumes were misclassified as mostly T1w with some slices as T2w. </a:t>
            </a:r>
          </a:p>
          <a:p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34D245-CCBB-A83D-B744-9600FA1BA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918" y="-69028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A1E4F3-9A86-3AD8-A8C1-57731EAA1222}"/>
              </a:ext>
            </a:extLst>
          </p:cNvPr>
          <p:cNvSpPr/>
          <p:nvPr/>
        </p:nvSpPr>
        <p:spPr>
          <a:xfrm>
            <a:off x="1277342" y="3916569"/>
            <a:ext cx="2656158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Ground Truth: FLAIR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A75567-F133-0A70-14E9-A41FF81B5325}"/>
              </a:ext>
            </a:extLst>
          </p:cNvPr>
          <p:cNvSpPr/>
          <p:nvPr/>
        </p:nvSpPr>
        <p:spPr>
          <a:xfrm>
            <a:off x="5159060" y="2778051"/>
            <a:ext cx="2656158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 1 Prediction: T1w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69F9F2-E483-99B8-661E-E37E8F562EB9}"/>
              </a:ext>
            </a:extLst>
          </p:cNvPr>
          <p:cNvSpPr/>
          <p:nvPr/>
        </p:nvSpPr>
        <p:spPr>
          <a:xfrm>
            <a:off x="5159060" y="3888022"/>
            <a:ext cx="2656158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 2 Prediction: T1w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59538F-9825-575E-43D7-2493828551AC}"/>
              </a:ext>
            </a:extLst>
          </p:cNvPr>
          <p:cNvSpPr/>
          <p:nvPr/>
        </p:nvSpPr>
        <p:spPr>
          <a:xfrm>
            <a:off x="5221813" y="4997993"/>
            <a:ext cx="2656158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Case 3 Prediction: T1w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394646-49EC-CA20-FBEC-912842CC0090}"/>
              </a:ext>
            </a:extLst>
          </p:cNvPr>
          <p:cNvCxnSpPr/>
          <p:nvPr/>
        </p:nvCxnSpPr>
        <p:spPr>
          <a:xfrm flipV="1">
            <a:off x="7709647" y="2778051"/>
            <a:ext cx="690282" cy="234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5192F9-809D-4230-5646-A1A8DE8CE1A1}"/>
              </a:ext>
            </a:extLst>
          </p:cNvPr>
          <p:cNvCxnSpPr/>
          <p:nvPr/>
        </p:nvCxnSpPr>
        <p:spPr>
          <a:xfrm flipV="1">
            <a:off x="7709647" y="3907948"/>
            <a:ext cx="690282" cy="234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DE1DD4-1D8F-1A70-7763-E21D9CC6F43B}"/>
              </a:ext>
            </a:extLst>
          </p:cNvPr>
          <p:cNvCxnSpPr/>
          <p:nvPr/>
        </p:nvCxnSpPr>
        <p:spPr>
          <a:xfrm flipV="1">
            <a:off x="7736541" y="5055440"/>
            <a:ext cx="690282" cy="234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035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3B317-C176-83F1-814D-0F3C89592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D788-9FF3-059F-4348-5BC96C61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Investigating Misclassifications through a Per-Slice Prediction Breakdown of the External Volumes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D448D-31E3-5CDB-016D-DD09ED6C0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0965"/>
            <a:ext cx="10515600" cy="4351338"/>
          </a:xfrm>
        </p:spPr>
        <p:txBody>
          <a:bodyPr/>
          <a:lstStyle/>
          <a:p>
            <a:r>
              <a:rPr lang="en-US" dirty="0"/>
              <a:t>1 T1w volume was misclassified as T2w  mostly with some correctly identified T1w slices. 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716553-932B-181F-417B-0F02F924F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918" y="-69028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23FE891-6386-CFAD-F28A-DBDD1D9617DC}"/>
              </a:ext>
            </a:extLst>
          </p:cNvPr>
          <p:cNvSpPr/>
          <p:nvPr/>
        </p:nvSpPr>
        <p:spPr>
          <a:xfrm>
            <a:off x="2496542" y="2876663"/>
            <a:ext cx="2656158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Ground Truth: FLAIR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57CEE6-8B8B-B873-1555-06E7B5480B47}"/>
              </a:ext>
            </a:extLst>
          </p:cNvPr>
          <p:cNvSpPr/>
          <p:nvPr/>
        </p:nvSpPr>
        <p:spPr>
          <a:xfrm>
            <a:off x="6225860" y="2876663"/>
            <a:ext cx="2656158" cy="940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Prediction: T1w</a:t>
            </a:r>
          </a:p>
        </p:txBody>
      </p:sp>
    </p:spTree>
    <p:extLst>
      <p:ext uri="{BB962C8B-B14F-4D97-AF65-F5344CB8AC3E}">
        <p14:creationId xmlns:p14="http://schemas.microsoft.com/office/powerpoint/2010/main" val="89135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42A4C-D97D-0E31-B3D5-1E392DF57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D4A06-03C7-AFA4-6770-9C175D537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5E40D-97C3-EC4F-33DB-A6C13C0C3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Discussion: Modality Classification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073C2-CE23-C309-7A93-9386753A0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235" y="1619437"/>
            <a:ext cx="10515600" cy="4351338"/>
          </a:xfrm>
        </p:spPr>
        <p:txBody>
          <a:bodyPr/>
          <a:lstStyle/>
          <a:p>
            <a:r>
              <a:rPr lang="en-US" dirty="0"/>
              <a:t>Model achieved good overall classification performance with an accuracy of 96% across 6 modalities. </a:t>
            </a:r>
          </a:p>
          <a:p>
            <a:pPr lvl="1"/>
            <a:r>
              <a:rPr lang="en-US" dirty="0"/>
              <a:t>Errors lie within the T1w, T2w, and FLAIR modalities.</a:t>
            </a:r>
          </a:p>
          <a:p>
            <a:r>
              <a:rPr lang="en-US" dirty="0"/>
              <a:t>Best performing modalities were CTA, </a:t>
            </a:r>
            <a:r>
              <a:rPr lang="en-US" dirty="0" err="1"/>
              <a:t>ncCT</a:t>
            </a:r>
            <a:r>
              <a:rPr lang="en-US" dirty="0"/>
              <a:t>, T1w. </a:t>
            </a:r>
          </a:p>
          <a:p>
            <a:pPr lvl="1"/>
            <a:r>
              <a:rPr lang="en-US" dirty="0"/>
              <a:t>Possibly due to highly attenuated profiles in CTA.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86BDC6-EEE0-600F-9BC0-21612EFB8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024" y="3711696"/>
            <a:ext cx="4071488" cy="305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91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E7D8D-56D3-C935-051A-01F7113D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2DF5-0D56-0D4A-3A2D-6FC85301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Discussion: Limitations -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646DC-C416-D6C6-4FDF-32B3C1342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235" y="1619437"/>
            <a:ext cx="10515600" cy="4351338"/>
          </a:xfrm>
        </p:spPr>
        <p:txBody>
          <a:bodyPr/>
          <a:lstStyle/>
          <a:p>
            <a:r>
              <a:rPr lang="en-US" dirty="0"/>
              <a:t>Training loss did not fully plateau by epoch 20.</a:t>
            </a:r>
          </a:p>
          <a:p>
            <a:pPr lvl="1"/>
            <a:r>
              <a:rPr lang="en-US" dirty="0"/>
              <a:t>May indicate underfitted model.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2D9C8-E2FB-266E-9B92-00175C865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382" y="2945000"/>
            <a:ext cx="5191970" cy="310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81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60F8F-7C5C-17CE-7A08-93B1F1502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1EF4-69D4-EDFD-4BE4-752CBE03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Discussion: Limitations –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D49CB-4DDA-1201-BC78-00ED78778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235" y="1619437"/>
            <a:ext cx="10515600" cy="4351338"/>
          </a:xfrm>
        </p:spPr>
        <p:txBody>
          <a:bodyPr/>
          <a:lstStyle/>
          <a:p>
            <a:r>
              <a:rPr lang="en-US" dirty="0"/>
              <a:t>Model was limited to predefined modality categories</a:t>
            </a:r>
          </a:p>
          <a:p>
            <a:pPr lvl="1"/>
            <a:r>
              <a:rPr lang="en-US" dirty="0"/>
              <a:t>Does not account for modalities outside of the 6 categories.</a:t>
            </a:r>
          </a:p>
          <a:p>
            <a:r>
              <a:rPr lang="en-US" dirty="0"/>
              <a:t>Small number of specific open-access datasets.</a:t>
            </a:r>
          </a:p>
          <a:p>
            <a:pPr lvl="1"/>
            <a:r>
              <a:rPr lang="en-US" dirty="0"/>
              <a:t>May not capture the true variability in images.</a:t>
            </a:r>
          </a:p>
          <a:p>
            <a:r>
              <a:rPr lang="en-US" dirty="0"/>
              <a:t>Disproportionate number of training slices between classes.</a:t>
            </a:r>
          </a:p>
          <a:p>
            <a:pPr lvl="1"/>
            <a:r>
              <a:rPr lang="en-US" dirty="0"/>
              <a:t>May lead to biased classifications.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9598BC-25DE-2CC5-2FDD-D3201687C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70636"/>
              </p:ext>
            </p:extLst>
          </p:nvPr>
        </p:nvGraphicFramePr>
        <p:xfrm>
          <a:off x="2026023" y="4320984"/>
          <a:ext cx="8122023" cy="22949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6404">
                  <a:extLst>
                    <a:ext uri="{9D8B030D-6E8A-4147-A177-3AD203B41FA5}">
                      <a16:colId xmlns:a16="http://schemas.microsoft.com/office/drawing/2014/main" val="3267680708"/>
                    </a:ext>
                  </a:extLst>
                </a:gridCol>
                <a:gridCol w="1053499">
                  <a:extLst>
                    <a:ext uri="{9D8B030D-6E8A-4147-A177-3AD203B41FA5}">
                      <a16:colId xmlns:a16="http://schemas.microsoft.com/office/drawing/2014/main" val="855838044"/>
                    </a:ext>
                  </a:extLst>
                </a:gridCol>
                <a:gridCol w="1109128">
                  <a:extLst>
                    <a:ext uri="{9D8B030D-6E8A-4147-A177-3AD203B41FA5}">
                      <a16:colId xmlns:a16="http://schemas.microsoft.com/office/drawing/2014/main" val="3254977567"/>
                    </a:ext>
                  </a:extLst>
                </a:gridCol>
                <a:gridCol w="1355119">
                  <a:extLst>
                    <a:ext uri="{9D8B030D-6E8A-4147-A177-3AD203B41FA5}">
                      <a16:colId xmlns:a16="http://schemas.microsoft.com/office/drawing/2014/main" val="2949146455"/>
                    </a:ext>
                  </a:extLst>
                </a:gridCol>
                <a:gridCol w="1473334">
                  <a:extLst>
                    <a:ext uri="{9D8B030D-6E8A-4147-A177-3AD203B41FA5}">
                      <a16:colId xmlns:a16="http://schemas.microsoft.com/office/drawing/2014/main" val="1228183574"/>
                    </a:ext>
                  </a:extLst>
                </a:gridCol>
                <a:gridCol w="1724539">
                  <a:extLst>
                    <a:ext uri="{9D8B030D-6E8A-4147-A177-3AD203B41FA5}">
                      <a16:colId xmlns:a16="http://schemas.microsoft.com/office/drawing/2014/main" val="1995129246"/>
                    </a:ext>
                  </a:extLst>
                </a:gridCol>
              </a:tblGrid>
              <a:tr h="5201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Data Sources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Image Modality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 dirty="0">
                          <a:effectLst/>
                        </a:rPr>
                        <a:t>Total </a:t>
                      </a:r>
                      <a:r>
                        <a:rPr lang="en-CA" sz="1200" kern="100" dirty="0" err="1">
                          <a:effectLst/>
                        </a:rPr>
                        <a:t>nifti</a:t>
                      </a:r>
                      <a:r>
                        <a:rPr lang="en-CA" sz="1200" kern="100" dirty="0">
                          <a:effectLst/>
                        </a:rPr>
                        <a:t> volumes 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 dirty="0">
                          <a:effectLst/>
                        </a:rPr>
                        <a:t>Training 2D slices (80%)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Test 2D slices (20%)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Total number of 2D slice cases 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5555489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Stroke SOOP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T1w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1985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496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2481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1134848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BraTS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T2w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1240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310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1550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6504898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BraTS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FLAIR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 dirty="0">
                          <a:effectLst/>
                        </a:rPr>
                        <a:t>10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1240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310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1550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8956504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TopCoW 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MRA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1536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384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1920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3114578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CQ500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ncCT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2411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603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3014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0132903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Large IA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CTA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4687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1172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5859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4493780"/>
                  </a:ext>
                </a:extLst>
              </a:tr>
              <a:tr h="2535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Total 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 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60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13099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>
                          <a:effectLst/>
                        </a:rPr>
                        <a:t>3275</a:t>
                      </a:r>
                      <a:endParaRPr lang="en-CA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200" kern="100" dirty="0">
                          <a:effectLst/>
                        </a:rPr>
                        <a:t>16374</a:t>
                      </a:r>
                      <a:endParaRPr lang="en-CA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9740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621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C630-479F-A8B5-87E1-C9956843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Image-Based Deep Learning Classification as an Effective Preprocessing Step for Neuroimaging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D6499-4095-D152-3261-FFAA71D8A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 expansion of </a:t>
            </a:r>
            <a:r>
              <a:rPr lang="en-US" b="1" dirty="0"/>
              <a:t>data diversity </a:t>
            </a:r>
            <a:r>
              <a:rPr lang="en-US" dirty="0"/>
              <a:t>and </a:t>
            </a:r>
            <a:r>
              <a:rPr lang="en-US" b="1" dirty="0"/>
              <a:t>increasing train duration</a:t>
            </a:r>
            <a:r>
              <a:rPr lang="en-US" dirty="0"/>
              <a:t>, the model can be significantly improved and generalized for usage as a preprocessing step. 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51B48C8B-7DC6-0AC3-FB27-445C9A7D9A93}"/>
              </a:ext>
            </a:extLst>
          </p:cNvPr>
          <p:cNvSpPr/>
          <p:nvPr/>
        </p:nvSpPr>
        <p:spPr>
          <a:xfrm>
            <a:off x="5146003" y="3407896"/>
            <a:ext cx="1899993" cy="763421"/>
          </a:xfrm>
          <a:custGeom>
            <a:avLst/>
            <a:gdLst/>
            <a:ahLst/>
            <a:cxnLst/>
            <a:rect l="l" t="t" r="r" b="b"/>
            <a:pathLst>
              <a:path w="2392009" h="1320389">
                <a:moveTo>
                  <a:pt x="0" y="0"/>
                </a:moveTo>
                <a:lnTo>
                  <a:pt x="2392008" y="0"/>
                </a:lnTo>
                <a:lnTo>
                  <a:pt x="2392008" y="1320388"/>
                </a:lnTo>
                <a:lnTo>
                  <a:pt x="0" y="1320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38100" cap="sq">
            <a:solidFill>
              <a:srgbClr val="FF0013"/>
            </a:solidFill>
            <a:prstDash val="solid"/>
            <a:miter/>
          </a:ln>
        </p:spPr>
        <p:txBody>
          <a:bodyPr/>
          <a:lstStyle/>
          <a:p>
            <a:endParaRPr lang="en-US" sz="120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9F53EF04-8D05-CB63-5840-19CFAF0D0B46}"/>
              </a:ext>
            </a:extLst>
          </p:cNvPr>
          <p:cNvSpPr/>
          <p:nvPr/>
        </p:nvSpPr>
        <p:spPr>
          <a:xfrm>
            <a:off x="1337190" y="4958825"/>
            <a:ext cx="4593449" cy="0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3E861040-56BA-351D-182C-2E0F9348D7D8}"/>
              </a:ext>
            </a:extLst>
          </p:cNvPr>
          <p:cNvSpPr/>
          <p:nvPr/>
        </p:nvSpPr>
        <p:spPr>
          <a:xfrm flipV="1">
            <a:off x="5930639" y="4288153"/>
            <a:ext cx="0" cy="683372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E0491346-68C0-AA12-55B9-4575BBEB4495}"/>
              </a:ext>
            </a:extLst>
          </p:cNvPr>
          <p:cNvSpPr/>
          <p:nvPr/>
        </p:nvSpPr>
        <p:spPr>
          <a:xfrm flipV="1">
            <a:off x="1349890" y="4958825"/>
            <a:ext cx="0" cy="683372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465E1E96-149C-5A13-9988-F732787B5593}"/>
              </a:ext>
            </a:extLst>
          </p:cNvPr>
          <p:cNvSpPr/>
          <p:nvPr/>
        </p:nvSpPr>
        <p:spPr>
          <a:xfrm flipV="1">
            <a:off x="3919998" y="4971525"/>
            <a:ext cx="0" cy="683372"/>
          </a:xfrm>
          <a:prstGeom prst="line">
            <a:avLst/>
          </a:prstGeom>
          <a:ln w="38100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90AC50D2-71DF-005C-4373-4CDB312502A4}"/>
              </a:ext>
            </a:extLst>
          </p:cNvPr>
          <p:cNvSpPr/>
          <p:nvPr/>
        </p:nvSpPr>
        <p:spPr>
          <a:xfrm flipV="1">
            <a:off x="6753375" y="4971525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082C98C2-6075-1A16-5DF5-DBAA1D2CD03B}"/>
              </a:ext>
            </a:extLst>
          </p:cNvPr>
          <p:cNvSpPr/>
          <p:nvPr/>
        </p:nvSpPr>
        <p:spPr>
          <a:xfrm flipV="1">
            <a:off x="8040146" y="4971525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6C7844F2-78F9-8EC7-7EEB-2157B0651FA7}"/>
              </a:ext>
            </a:extLst>
          </p:cNvPr>
          <p:cNvSpPr/>
          <p:nvPr/>
        </p:nvSpPr>
        <p:spPr>
          <a:xfrm flipV="1">
            <a:off x="9329196" y="4958825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D2AD3E96-CDE2-6A95-CE2B-DD9FE843D6C7}"/>
              </a:ext>
            </a:extLst>
          </p:cNvPr>
          <p:cNvSpPr/>
          <p:nvPr/>
        </p:nvSpPr>
        <p:spPr>
          <a:xfrm flipV="1">
            <a:off x="10536788" y="4971525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569E597A-81B9-E4AD-43D7-B63690D8E7E0}"/>
              </a:ext>
            </a:extLst>
          </p:cNvPr>
          <p:cNvSpPr/>
          <p:nvPr/>
        </p:nvSpPr>
        <p:spPr>
          <a:xfrm flipV="1">
            <a:off x="5943339" y="4958825"/>
            <a:ext cx="4593449" cy="0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9AAFB104-F943-8FA2-2498-9AAB2B96E051}"/>
              </a:ext>
            </a:extLst>
          </p:cNvPr>
          <p:cNvSpPr/>
          <p:nvPr/>
        </p:nvSpPr>
        <p:spPr>
          <a:xfrm flipV="1">
            <a:off x="5956039" y="4288153"/>
            <a:ext cx="0" cy="683372"/>
          </a:xfrm>
          <a:prstGeom prst="line">
            <a:avLst/>
          </a:prstGeom>
          <a:ln w="38100" cap="flat">
            <a:solidFill>
              <a:srgbClr val="004A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780BAC0E-D60A-B414-2BC9-8937F757F17B}"/>
              </a:ext>
            </a:extLst>
          </p:cNvPr>
          <p:cNvSpPr txBox="1"/>
          <p:nvPr/>
        </p:nvSpPr>
        <p:spPr>
          <a:xfrm>
            <a:off x="5254694" y="3540649"/>
            <a:ext cx="1682609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ModalitySort</a:t>
            </a:r>
            <a:endParaRPr lang="en-US" sz="22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D22B392B-0BD7-1A3F-A8D6-DBA826690AAF}"/>
              </a:ext>
            </a:extLst>
          </p:cNvPr>
          <p:cNvSpPr txBox="1"/>
          <p:nvPr/>
        </p:nvSpPr>
        <p:spPr>
          <a:xfrm>
            <a:off x="3200607" y="4378058"/>
            <a:ext cx="371921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00BF6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CT</a:t>
            </a:r>
          </a:p>
        </p:txBody>
      </p:sp>
      <p:sp>
        <p:nvSpPr>
          <p:cNvPr id="17" name="TextBox 26">
            <a:extLst>
              <a:ext uri="{FF2B5EF4-FFF2-40B4-BE49-F238E27FC236}">
                <a16:creationId xmlns:a16="http://schemas.microsoft.com/office/drawing/2014/main" id="{0EC50CDB-47F4-1F01-179E-DFCF1E0C2476}"/>
              </a:ext>
            </a:extLst>
          </p:cNvPr>
          <p:cNvSpPr txBox="1"/>
          <p:nvPr/>
        </p:nvSpPr>
        <p:spPr>
          <a:xfrm>
            <a:off x="8201756" y="4378058"/>
            <a:ext cx="1297577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b="1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MRI</a:t>
            </a:r>
          </a:p>
        </p:txBody>
      </p:sp>
      <p:sp>
        <p:nvSpPr>
          <p:cNvPr id="18" name="TextBox 28">
            <a:extLst>
              <a:ext uri="{FF2B5EF4-FFF2-40B4-BE49-F238E27FC236}">
                <a16:creationId xmlns:a16="http://schemas.microsoft.com/office/drawing/2014/main" id="{AA4AEF3B-12E0-154E-A5E1-4C65FC4167BA}"/>
              </a:ext>
            </a:extLst>
          </p:cNvPr>
          <p:cNvSpPr txBox="1"/>
          <p:nvPr/>
        </p:nvSpPr>
        <p:spPr>
          <a:xfrm>
            <a:off x="3440044" y="5633704"/>
            <a:ext cx="931146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CTA</a:t>
            </a:r>
          </a:p>
        </p:txBody>
      </p:sp>
      <p:sp>
        <p:nvSpPr>
          <p:cNvPr id="19" name="TextBox 29">
            <a:extLst>
              <a:ext uri="{FF2B5EF4-FFF2-40B4-BE49-F238E27FC236}">
                <a16:creationId xmlns:a16="http://schemas.microsoft.com/office/drawing/2014/main" id="{F25F3EFB-323D-71F8-9B4D-A585A5C13CF7}"/>
              </a:ext>
            </a:extLst>
          </p:cNvPr>
          <p:cNvSpPr txBox="1"/>
          <p:nvPr/>
        </p:nvSpPr>
        <p:spPr>
          <a:xfrm>
            <a:off x="5935296" y="5621189"/>
            <a:ext cx="1605788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MRA-TOF</a:t>
            </a:r>
          </a:p>
        </p:txBody>
      </p:sp>
      <p:sp>
        <p:nvSpPr>
          <p:cNvPr id="20" name="TextBox 30">
            <a:extLst>
              <a:ext uri="{FF2B5EF4-FFF2-40B4-BE49-F238E27FC236}">
                <a16:creationId xmlns:a16="http://schemas.microsoft.com/office/drawing/2014/main" id="{4350BDB5-C108-0B4A-CE96-91FEE695B1B9}"/>
              </a:ext>
            </a:extLst>
          </p:cNvPr>
          <p:cNvSpPr txBox="1"/>
          <p:nvPr/>
        </p:nvSpPr>
        <p:spPr>
          <a:xfrm>
            <a:off x="7769080" y="5610448"/>
            <a:ext cx="542131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T2</a:t>
            </a:r>
          </a:p>
        </p:txBody>
      </p:sp>
      <p:sp>
        <p:nvSpPr>
          <p:cNvPr id="21" name="TextBox 31">
            <a:extLst>
              <a:ext uri="{FF2B5EF4-FFF2-40B4-BE49-F238E27FC236}">
                <a16:creationId xmlns:a16="http://schemas.microsoft.com/office/drawing/2014/main" id="{EBF437BE-ACA8-5EC1-1794-8681236F2DF0}"/>
              </a:ext>
            </a:extLst>
          </p:cNvPr>
          <p:cNvSpPr txBox="1"/>
          <p:nvPr/>
        </p:nvSpPr>
        <p:spPr>
          <a:xfrm>
            <a:off x="8625720" y="5623148"/>
            <a:ext cx="1338017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FLAIR</a:t>
            </a:r>
          </a:p>
        </p:txBody>
      </p:sp>
      <p:sp>
        <p:nvSpPr>
          <p:cNvPr id="22" name="TextBox 32">
            <a:extLst>
              <a:ext uri="{FF2B5EF4-FFF2-40B4-BE49-F238E27FC236}">
                <a16:creationId xmlns:a16="http://schemas.microsoft.com/office/drawing/2014/main" id="{8A302F13-C9E7-C55F-C346-7F444F3EA64C}"/>
              </a:ext>
            </a:extLst>
          </p:cNvPr>
          <p:cNvSpPr txBox="1"/>
          <p:nvPr/>
        </p:nvSpPr>
        <p:spPr>
          <a:xfrm>
            <a:off x="10269384" y="5623148"/>
            <a:ext cx="570767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T1</a:t>
            </a:r>
          </a:p>
        </p:txBody>
      </p:sp>
      <p:sp>
        <p:nvSpPr>
          <p:cNvPr id="23" name="TextBox 27">
            <a:extLst>
              <a:ext uri="{FF2B5EF4-FFF2-40B4-BE49-F238E27FC236}">
                <a16:creationId xmlns:a16="http://schemas.microsoft.com/office/drawing/2014/main" id="{DDA25415-DA3F-89FD-4BA1-EAAA226C10AC}"/>
              </a:ext>
            </a:extLst>
          </p:cNvPr>
          <p:cNvSpPr txBox="1"/>
          <p:nvPr/>
        </p:nvSpPr>
        <p:spPr>
          <a:xfrm>
            <a:off x="838697" y="5654897"/>
            <a:ext cx="1037241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ncCT</a:t>
            </a:r>
            <a:endParaRPr lang="en-US" sz="22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2161263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900</Words>
  <Application>Microsoft Macintosh PowerPoint</Application>
  <PresentationFormat>Widescreen</PresentationFormat>
  <Paragraphs>312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Canva Sans</vt:lpstr>
      <vt:lpstr>Canva Sans Bold</vt:lpstr>
      <vt:lpstr>Wingdings</vt:lpstr>
      <vt:lpstr>Office Theme</vt:lpstr>
      <vt:lpstr>ModalitySort</vt:lpstr>
      <vt:lpstr>Overload of imaging data in clinical/ research settings</vt:lpstr>
      <vt:lpstr>PowerPoint Presentation</vt:lpstr>
      <vt:lpstr>PowerPoint Presentation</vt:lpstr>
      <vt:lpstr>Methodology</vt:lpstr>
      <vt:lpstr>PowerPoint Presentation</vt:lpstr>
      <vt:lpstr>PowerPoint Presentation</vt:lpstr>
      <vt:lpstr>Data Augmentation Strategies Applied During Model Training</vt:lpstr>
      <vt:lpstr>Model Architecture: DenseNet-121 for Multi-Class Neuroimaging Classification</vt:lpstr>
      <vt:lpstr>Training &amp; Validation Configuration </vt:lpstr>
      <vt:lpstr>Results</vt:lpstr>
      <vt:lpstr>Classification Performance: Overall, 96% Accuracy Across Test set </vt:lpstr>
      <vt:lpstr>Classification Performance: Observed in a Confusion Matrix</vt:lpstr>
      <vt:lpstr>Comparing Ground Truth Labels Against Model Predictions</vt:lpstr>
      <vt:lpstr>Monitoring Model’s Learning through Training &amp; Validation Loss/ Accuracy Over 20 Epochs</vt:lpstr>
      <vt:lpstr>20 of 24 Unseen Volumes were Correctly Classified with Confidence Scores</vt:lpstr>
      <vt:lpstr>Investigating Misclassifications through a Per-Slice Prediction Breakdown of the External Volumes </vt:lpstr>
      <vt:lpstr>Investigating Misclassifications through a Per-Slice Prediction Breakdown of the External Volumes </vt:lpstr>
      <vt:lpstr>Discussion</vt:lpstr>
      <vt:lpstr>Discussion: Modality Classification Performance</vt:lpstr>
      <vt:lpstr>Discussion: Limitations - Training</vt:lpstr>
      <vt:lpstr>Discussion: Limitations – Data</vt:lpstr>
      <vt:lpstr>Image-Based Deep Learning Classification as an Effective Preprocessing Step for Neuroimaging Pipelines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Gaithtry Rameswaran</dc:creator>
  <cp:lastModifiedBy>Gaithtry Rameswaran</cp:lastModifiedBy>
  <cp:revision>2</cp:revision>
  <dcterms:created xsi:type="dcterms:W3CDTF">2026-04-08T16:26:55Z</dcterms:created>
  <dcterms:modified xsi:type="dcterms:W3CDTF">2026-04-08T22:04:25Z</dcterms:modified>
</cp:coreProperties>
</file>